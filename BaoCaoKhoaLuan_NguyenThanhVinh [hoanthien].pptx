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4" r:id="rId11"/>
    <p:sldId id="276" r:id="rId12"/>
    <p:sldId id="265" r:id="rId13"/>
    <p:sldId id="26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69" r:id="rId26"/>
    <p:sldId id="271" r:id="rId27"/>
    <p:sldId id="272" r:id="rId28"/>
    <p:sldId id="27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5658" autoAdjust="0"/>
  </p:normalViewPr>
  <p:slideViewPr>
    <p:cSldViewPr snapToGrid="0" snapToObjects="1">
      <p:cViewPr varScale="1">
        <p:scale>
          <a:sx n="140" d="100"/>
          <a:sy n="140" d="100"/>
        </p:scale>
        <p:origin x="1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44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653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5029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560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TRÀ VINH – TRƯỜNG KỸ THUẬT VÀ CÔNG NGHỆ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77724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XÂY DỰNG HỆ THỐNG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QUẢN LÝ BỆNH ÁN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23317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LIÊN PHÒNG KHÁM TƯ NHÂN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 flipV="1">
            <a:off x="365760" y="3017521"/>
            <a:ext cx="4786270" cy="45719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Sinh viên thực hiện: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27860" y="33147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NGUYỄN THÀNH VINH  –  MSSV: 110122206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60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Lớp / Khóa: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71600" y="374675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DA22TTC  –  Khóa 2022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5760" y="41696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Giảng viên hướng dẫn: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118360" y="4169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ThS. LÊ PHONG DŨ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4614F7-61C2-AC4E-063C-2FBC4D97E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00" y="23955"/>
            <a:ext cx="1287113" cy="12871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NỘI DUNG TRÌNH BÀY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97180" y="822960"/>
            <a:ext cx="2423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8961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481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TỔNG QUAN ĐỀ TÀI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13258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Lý do, mục tiêu, phạm vi, đối tượng nghiên cứu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37560" y="822960"/>
            <a:ext cx="2423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9144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89611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1481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CƠ SỞ LÝ THUYẾT &amp; KHẢO SÁT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886200" y="2121408"/>
            <a:ext cx="13258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Hiện trạng, EMR, công nghệ áp dụng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400800" y="822960"/>
            <a:ext cx="2423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92240" y="9144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9224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896112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92240" y="1481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PHÂN TÍCH &amp; THIẾT KẾ HỆ THỐNG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949440" y="2121408"/>
            <a:ext cx="13258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92240" y="21945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Use Case, Class, Activity, Sequence Diagram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1828800" y="3154680"/>
            <a:ext cx="2423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920240" y="32461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9202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227832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920240" y="38130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NGHIÊN CỨU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2377440" y="4453128"/>
            <a:ext cx="13258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920240" y="45262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Giao diện &amp; chức năng từng nhóm người dùng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5029200" y="3154680"/>
            <a:ext cx="2423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120640" y="32461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120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227832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20640" y="38130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LUẬN &amp; HƯỚNG PHÁT TRIỂN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5577840" y="4453128"/>
            <a:ext cx="13258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120640" y="45262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Kết quả đạt được, hạn chế, định hướng tương lai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1 — TỔNG QUAN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LÝ DO CHỌN ĐỀ TÀI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0911" y="1642110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5076" y="868680"/>
            <a:ext cx="247328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Thực</a:t>
            </a: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trạng</a:t>
            </a: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hiện</a:t>
            </a: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nay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63440" y="86868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028090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866976" y="164211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235780" y="14747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EMR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–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100%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F820FE2C-9928-123F-F0DE-960E76FBD494}"/>
              </a:ext>
            </a:extLst>
          </p:cNvPr>
          <p:cNvSpPr/>
          <p:nvPr/>
        </p:nvSpPr>
        <p:spPr>
          <a:xfrm>
            <a:off x="752176" y="1544574"/>
            <a:ext cx="3515024" cy="53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giấy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tờ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thất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lạc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tốn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B07FEC61-3DC7-6977-15D2-DE2DBE3DC33C}"/>
              </a:ext>
            </a:extLst>
          </p:cNvPr>
          <p:cNvSpPr/>
          <p:nvPr/>
        </p:nvSpPr>
        <p:spPr>
          <a:xfrm>
            <a:off x="380911" y="2454148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BF1AA65-6227-AABA-D893-AC8AC5559E31}"/>
              </a:ext>
            </a:extLst>
          </p:cNvPr>
          <p:cNvSpPr/>
          <p:nvPr/>
        </p:nvSpPr>
        <p:spPr>
          <a:xfrm>
            <a:off x="752176" y="2356612"/>
            <a:ext cx="3515024" cy="53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mảnh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khám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D417F5E7-0B29-5F5E-083D-CDE3F1B01A87}"/>
              </a:ext>
            </a:extLst>
          </p:cNvPr>
          <p:cNvSpPr/>
          <p:nvPr/>
        </p:nvSpPr>
        <p:spPr>
          <a:xfrm>
            <a:off x="380911" y="3271774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3FFD036C-A0DD-4BDF-CC7F-5B36574E79F2}"/>
              </a:ext>
            </a:extLst>
          </p:cNvPr>
          <p:cNvSpPr/>
          <p:nvPr/>
        </p:nvSpPr>
        <p:spPr>
          <a:xfrm>
            <a:off x="752176" y="3174238"/>
            <a:ext cx="3515024" cy="53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01592E7F-4B63-D01F-5CE1-CDD067C8CDC5}"/>
              </a:ext>
            </a:extLst>
          </p:cNvPr>
          <p:cNvSpPr/>
          <p:nvPr/>
        </p:nvSpPr>
        <p:spPr>
          <a:xfrm>
            <a:off x="380911" y="4057904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3A8408CA-1CA7-ACBF-0C1D-646158F371DA}"/>
              </a:ext>
            </a:extLst>
          </p:cNvPr>
          <p:cNvSpPr/>
          <p:nvPr/>
        </p:nvSpPr>
        <p:spPr>
          <a:xfrm>
            <a:off x="752176" y="3960368"/>
            <a:ext cx="3515024" cy="53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Lễ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tân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gây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chậm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trễ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1400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69AEE445-E096-679C-466E-AE353888741C}"/>
              </a:ext>
            </a:extLst>
          </p:cNvPr>
          <p:cNvSpPr/>
          <p:nvPr/>
        </p:nvSpPr>
        <p:spPr>
          <a:xfrm>
            <a:off x="5888650" y="868680"/>
            <a:ext cx="20209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E293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1046308D-52FE-276A-14BC-5F23FFFCA81A}"/>
              </a:ext>
            </a:extLst>
          </p:cNvPr>
          <p:cNvSpPr/>
          <p:nvPr/>
        </p:nvSpPr>
        <p:spPr>
          <a:xfrm>
            <a:off x="4873845" y="403377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35B28BF5-CF53-A176-E624-377ADB618F51}"/>
              </a:ext>
            </a:extLst>
          </p:cNvPr>
          <p:cNvSpPr/>
          <p:nvPr/>
        </p:nvSpPr>
        <p:spPr>
          <a:xfrm>
            <a:off x="5242649" y="38663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Phân quyền theo vai trò (RBAC) – bảo mật JWT toàn diện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BF8A235C-E0C6-58AB-9E76-9A3E0407DF1C}"/>
              </a:ext>
            </a:extLst>
          </p:cNvPr>
          <p:cNvSpPr/>
          <p:nvPr/>
        </p:nvSpPr>
        <p:spPr>
          <a:xfrm>
            <a:off x="4873845" y="2453767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1D5FFB2A-B80A-D936-8411-AEE939FA854C}"/>
              </a:ext>
            </a:extLst>
          </p:cNvPr>
          <p:cNvSpPr/>
          <p:nvPr/>
        </p:nvSpPr>
        <p:spPr>
          <a:xfrm>
            <a:off x="5242649" y="2286381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khám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9F81B923-C4D3-133B-E9A7-7B8FDD41D2D9}"/>
              </a:ext>
            </a:extLst>
          </p:cNvPr>
          <p:cNvSpPr/>
          <p:nvPr/>
        </p:nvSpPr>
        <p:spPr>
          <a:xfrm>
            <a:off x="4873845" y="326542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DFA7B63F-0CE8-9861-7ABF-66AE8DDFB03F}"/>
              </a:ext>
            </a:extLst>
          </p:cNvPr>
          <p:cNvSpPr/>
          <p:nvPr/>
        </p:nvSpPr>
        <p:spPr>
          <a:xfrm>
            <a:off x="5242649" y="309803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1 — TỔNG QUAN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MỤC TIÊU &amp; PHẠM VI ĐỀ TÀI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Mục tiêu cụ thể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54864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Số hóa hồ sơ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83080" y="13716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Thay thế giấy tờ bằng bệnh án điện tử EMR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39112"/>
            <a:ext cx="54864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Mã định danh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83080" y="203911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Cấp mã bệnh nhân tự động, hỗ trợ tái khám nhanh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706624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06624"/>
            <a:ext cx="54864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0662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Công cụ lâm sàng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83080" y="270662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Bác sĩ: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xem</a:t>
            </a: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bệnh</a:t>
            </a: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nhân</a:t>
            </a: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cảnh báo dị ứng,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kê</a:t>
            </a: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đơn</a:t>
            </a: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thuốc</a:t>
            </a: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cận</a:t>
            </a: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lâm</a:t>
            </a: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sàng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3374136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74136"/>
            <a:ext cx="54864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7413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Liên phòng khám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83080" y="337413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 cứu lịch sử chéo giữa các cơ sở liên kết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4041648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41648"/>
            <a:ext cx="54864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4164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Bảo mật JWT+RBAC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783080" y="404164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Xác thực và phân quyền chặt chẽ theo vai trò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63440" y="822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Phạm vi &amp; Giới hạn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1371600"/>
            <a:ext cx="4160520" cy="795528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371600"/>
            <a:ext cx="54864" cy="7955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371600"/>
            <a:ext cx="1463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Đối tượng áp dụng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55080" y="1371600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Chuỗi phòng khám tư nhân muốn số hóa và liên thông dữ liệu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63440" y="2240280"/>
            <a:ext cx="4160520" cy="795528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240280"/>
            <a:ext cx="54864" cy="7955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40280"/>
            <a:ext cx="1463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Chức năng cốt lõi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55080" y="2240280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Quản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lý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bệnh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nhân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hồ sơ bệnh án, khám bệnh,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cận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lâm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sàng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kê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đơn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thuốc</a:t>
            </a: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thanh toán, danh mục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3108960"/>
            <a:ext cx="4160520" cy="795528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108960"/>
            <a:ext cx="54864" cy="7955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108960"/>
            <a:ext cx="1463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Tra cứu liên PK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55080" y="3108960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Module chia sẻ hồ sơ có kiểm soát quyền truy cập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63440" y="3977640"/>
            <a:ext cx="4160520" cy="795528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977640"/>
            <a:ext cx="54864" cy="7955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977640"/>
            <a:ext cx="1463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Chưa bao gồm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55080" y="3977640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Tích hợp BHYT quốc gia, kế toán nội bộ chuyên sâu, chuẩn DICOM/PACS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1 — TỔNG QUAN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ĐỐI TƯỢNG SỬ DỤNG HỆ THỐNG (5 VAI TRÒ)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886968"/>
            <a:ext cx="502920" cy="502920"/>
          </a:xfrm>
          <a:prstGeom prst="ellipse">
            <a:avLst/>
          </a:prstGeom>
          <a:solidFill>
            <a:srgbClr val="2B7A85">
              <a:alpha val="30000"/>
            </a:srgbClr>
          </a:solidFill>
          <a:ln w="12700">
            <a:solidFill>
              <a:srgbClr val="2B7A85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905256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139903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Quản trị viên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(Admin)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92608" y="189280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" y="1819656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Quản lý phòng khám,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nhân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viên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tài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khoản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92608" y="2551176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" y="2478024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Cấp quyền tài khoản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92608" y="320954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" y="3136392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Danh mục thuốc, bệnh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92608" y="386791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379476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Thống kê doanh thu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993392" y="77724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993392" y="777240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32888" y="886968"/>
            <a:ext cx="502920" cy="502920"/>
          </a:xfrm>
          <a:prstGeom prst="ellipse">
            <a:avLst/>
          </a:prstGeom>
          <a:solidFill>
            <a:srgbClr val="2B7A85">
              <a:alpha val="30000"/>
            </a:srgbClr>
          </a:solidFill>
          <a:ln w="12700">
            <a:solidFill>
              <a:srgbClr val="2B7A85">
                <a:alpha val="50000"/>
              </a:srgbClr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905256"/>
            <a:ext cx="448056" cy="4480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039112" y="139903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Lễ tân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2103120" y="1892808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304288" y="1819656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Tiếp nhận bệnh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nhân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2103120" y="2551176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04288" y="2478024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 cứu hồ sơ theo mã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2103120" y="320954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304288" y="3136392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Tạo lượt khám mới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2103120" y="3867912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304288" y="379476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Thanh toán &amp; in hóa đơn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3803904" y="77724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803904" y="777240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343400" y="886968"/>
            <a:ext cx="502920" cy="502920"/>
          </a:xfrm>
          <a:prstGeom prst="ellipse">
            <a:avLst/>
          </a:prstGeom>
          <a:solidFill>
            <a:srgbClr val="2B7A85">
              <a:alpha val="30000"/>
            </a:srgbClr>
          </a:solidFill>
          <a:ln w="12700">
            <a:solidFill>
              <a:srgbClr val="2B7A85">
                <a:alpha val="50000"/>
              </a:srgbClr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905256"/>
            <a:ext cx="448056" cy="4480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3849624" y="139903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Bác sĩ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3913632" y="189280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114800" y="1819656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Khám, chẩn đoán ICD-10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3913632" y="2551176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114800" y="2478024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Kê đơn thuốc điện tử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3913632" y="320954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114800" y="3136392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Chỉ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định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cận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lâm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sàng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3913632" y="386791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114800" y="379476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cứu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hồ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sơ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bệnh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án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liên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phòng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khám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5614416" y="77724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5614416" y="777240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153912" y="886968"/>
            <a:ext cx="502920" cy="502920"/>
          </a:xfrm>
          <a:prstGeom prst="ellipse">
            <a:avLst/>
          </a:prstGeom>
          <a:solidFill>
            <a:srgbClr val="2B7A85">
              <a:alpha val="30000"/>
            </a:srgbClr>
          </a:solidFill>
          <a:ln w="12700">
            <a:solidFill>
              <a:srgbClr val="2B7A85">
                <a:alpha val="50000"/>
              </a:srgbClr>
            </a:solidFill>
            <a:prstDash val="solid"/>
          </a:ln>
        </p:spPr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905256"/>
            <a:ext cx="448056" cy="448056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660136" y="139903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Kỹ thuật viên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3"/>
          <p:cNvSpPr/>
          <p:nvPr/>
        </p:nvSpPr>
        <p:spPr>
          <a:xfrm>
            <a:off x="5724144" y="1892808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925312" y="1819656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Nhận chỉ định từ bác sĩ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5"/>
          <p:cNvSpPr/>
          <p:nvPr/>
        </p:nvSpPr>
        <p:spPr>
          <a:xfrm>
            <a:off x="5724144" y="2551176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925312" y="2478024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Cập nhật kết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quả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cận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lâm</a:t>
            </a: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sàng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47"/>
          <p:cNvSpPr/>
          <p:nvPr/>
        </p:nvSpPr>
        <p:spPr>
          <a:xfrm>
            <a:off x="5724144" y="320954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925312" y="3136392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Upload hình ảnh chẩn đoán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49"/>
          <p:cNvSpPr/>
          <p:nvPr/>
        </p:nvSpPr>
        <p:spPr>
          <a:xfrm>
            <a:off x="5724144" y="3867912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5925312" y="379476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 phiếu kết quả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1"/>
          <p:cNvSpPr/>
          <p:nvPr/>
        </p:nvSpPr>
        <p:spPr>
          <a:xfrm>
            <a:off x="7424928" y="77724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Shape 52"/>
          <p:cNvSpPr/>
          <p:nvPr/>
        </p:nvSpPr>
        <p:spPr>
          <a:xfrm>
            <a:off x="7424928" y="777240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7964424" y="886968"/>
            <a:ext cx="502920" cy="502920"/>
          </a:xfrm>
          <a:prstGeom prst="ellipse">
            <a:avLst/>
          </a:prstGeom>
          <a:solidFill>
            <a:srgbClr val="2B7A85">
              <a:alpha val="30000"/>
            </a:srgbClr>
          </a:solidFill>
          <a:ln w="12700">
            <a:solidFill>
              <a:srgbClr val="2B7A85">
                <a:alpha val="50000"/>
              </a:srgbClr>
            </a:solidFill>
            <a:prstDash val="solid"/>
          </a:ln>
        </p:spPr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856" y="905256"/>
            <a:ext cx="448056" cy="448056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7470648" y="139903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Bệnh nhân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5"/>
          <p:cNvSpPr/>
          <p:nvPr/>
        </p:nvSpPr>
        <p:spPr>
          <a:xfrm>
            <a:off x="7534656" y="189280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7735824" y="1819656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Xem hồ sơ cá nhân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57"/>
          <p:cNvSpPr/>
          <p:nvPr/>
        </p:nvSpPr>
        <p:spPr>
          <a:xfrm>
            <a:off x="7534656" y="2551176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7735824" y="2478024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Đặt lịch khám online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59"/>
          <p:cNvSpPr/>
          <p:nvPr/>
        </p:nvSpPr>
        <p:spPr>
          <a:xfrm>
            <a:off x="7534656" y="320954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7735824" y="3136392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 cứu lịch sử khám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1"/>
          <p:cNvSpPr/>
          <p:nvPr/>
        </p:nvSpPr>
        <p:spPr>
          <a:xfrm>
            <a:off x="7534656" y="386791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7735824" y="379476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Xem kết quả xét nghiệm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2 — CƠ SỞ LÝ THUYẾT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KHẢO SÁT HIỆN TRẠNG &amp; CƠ SỞ LÝ THUYẾT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Hiện trạng phòng khám tư nhân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36576" cy="38404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Lưu trữ thủ công bằng sổ giấy hoặc phần mềm đơn giản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36576" cy="38404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Mỗi phòng khám là "ốc đảo dữ liệu" – không liên thông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36576" cy="38404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Thiếu đồng bộ giữa lễ tân, bác sĩ và kỹ thuật viên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Bệnh án điện tử (EMR/EHR)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376732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EMR: Hồ sơ bệnh án số hóa của một cơ sở y tế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EHR: Mở rộng chia sẻ giữa nhiều cơ sở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Đề tài áp dụng EMR + khả năng liên thông EHR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Công nghệ áp dụng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9903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435608"/>
            <a:ext cx="493776" cy="4937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40680" y="13990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ASP.NET Core 8.0 + C#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40680" y="1691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Backend RESTful API, Dependency Injection, Middleware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663440" y="2212848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2286000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322576"/>
            <a:ext cx="493776" cy="4937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SQL Server + Dapper ORM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40680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ACID transactions, tốc độ cao, truy vấn phức tạp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663440" y="3099816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754880" y="317296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3209544"/>
            <a:ext cx="493776" cy="49377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40680" y="3172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JWT (JSON Web Token)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5440680" y="34655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Xác thực stateless, RBAC phân quyền 5 vai trò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4663440" y="3986784"/>
            <a:ext cx="41605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4059936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4096512"/>
            <a:ext cx="493776" cy="49377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40680" y="40599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Vanilla JS + Bootstrap 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5440680" y="43525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SPA, Fetch API async/await, giao diện responsive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060" y="-1828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KIẾN TRÚC HỆ THỐNG 3 TẦNG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261872"/>
          </a:xfrm>
          <a:prstGeom prst="roundRect">
            <a:avLst>
              <a:gd name="adj" fmla="val 7246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371600" cy="1261872"/>
          </a:xfrm>
          <a:prstGeom prst="roundRect">
            <a:avLst>
              <a:gd name="adj" fmla="val 579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96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TẦNG 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260348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960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Giao diện người dùng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(Presentation Tier)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874520" y="1581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HTML5 + CSS3 + Bootstrap 5.3 + Vanilla JS (ES6+) + Fetch API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212080" y="978408"/>
            <a:ext cx="34290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49240" y="10058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Mô hình SPA – không reload trang – phản hồi tức thì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434840" y="2130552"/>
            <a:ext cx="0" cy="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2185416"/>
            <a:ext cx="91440" cy="5486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2185416"/>
            <a:ext cx="0" cy="5486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240280"/>
            <a:ext cx="8412480" cy="1261872"/>
          </a:xfrm>
          <a:prstGeom prst="roundRect">
            <a:avLst>
              <a:gd name="adj" fmla="val 7246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240280"/>
            <a:ext cx="1371600" cy="1261872"/>
          </a:xfrm>
          <a:prstGeom prst="roundRect">
            <a:avLst>
              <a:gd name="adj" fmla="val 579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616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TẦNG 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624328"/>
            <a:ext cx="566928" cy="56692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874520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Xử lý nghiệp vụ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(Business Logic Tier)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874520" y="2953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ASP.NET Core 8.0 Web API + C# + BCrypt + JWT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212080" y="2350008"/>
            <a:ext cx="34290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349240" y="23774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RESTful endpoints, xác thực JWT, phân quyền RBAC, Middleware pipeline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343400" y="3557016"/>
            <a:ext cx="91440" cy="5486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26280" y="3557016"/>
            <a:ext cx="0" cy="5486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5760" y="3611880"/>
            <a:ext cx="8412480" cy="1261872"/>
          </a:xfrm>
          <a:prstGeom prst="roundRect">
            <a:avLst>
              <a:gd name="adj" fmla="val 7246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65760" y="3611880"/>
            <a:ext cx="1371600" cy="1261872"/>
          </a:xfrm>
          <a:prstGeom prst="roundRect">
            <a:avLst>
              <a:gd name="adj" fmla="val 579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6616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TẦNG 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041648"/>
            <a:ext cx="566928" cy="56692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87452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Truy xuất dữ liệu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(Data Tier)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1874520" y="4325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Microsoft SQL Server + Dapper Micro-ORM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5212080" y="3721608"/>
            <a:ext cx="34290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5349240" y="37490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ACID transactions, Indexing tối ưu, phản hồi API &lt; 300ms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B4DAB6F0-8EB5-6B1B-A7BB-27AE78C52509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 — PHÂN TÍCH &amp; THIẾT KẾ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9550BF-BC16-CE81-C2CA-0E513C7270D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498A4E-6E09-EFD9-FFDF-065D9985FCB6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 — PHÂN TÍCH &amp; THIẾT KẾ</a:t>
            </a:r>
            <a:endParaRPr lang="en-US" sz="1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8071E03-D20F-3EE6-BCF4-4708A23C2655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SƠ ĐỒ USE CASE – 5 TÁC NHÂN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FF36F6-B708-76E9-9ABA-E73CF05BE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044" y="685800"/>
            <a:ext cx="4167911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0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B19957-AABD-4085-74ED-EBB562A49F5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089964-CFB3-CD83-5FE7-1617237212F1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 — PHÂN TÍCH &amp; THIẾT KẾ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734E31-0451-A236-2B7D-4BC8DC226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951" y="710396"/>
            <a:ext cx="5644097" cy="443310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C3182679-58DE-A8CA-44BF-05549B89B105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SƠ ĐỒ LỚP – 4 NHÓM THỰC THỂ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29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 — PHÂN TÍCH &amp; THIẾT KẾ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SƠ ĐỒ LỚP – 4 NHÓM THỰC THỂ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828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Nhóm 1: Tổ chức &amp; Phân quyền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533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PhongKham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35331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3533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TaiKhoan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01168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VaiTro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01168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201168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ChuyenKhoa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206240" cy="1828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822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Nhóm 2: Nhân sự &amp; Bệnh nhân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46320" y="135331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3533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NhanVien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35331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13533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BacSi (kế thừa NV)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01168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BenhNhan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201168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201168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ThongTinDiUng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768346"/>
            <a:ext cx="4224528" cy="229895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7889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Nhóm 3: Bệnh án &amp; Lâm sàng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33192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319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HoSoBenhAn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33192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60320" y="3319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DotKham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97764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39776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ChiSoSuSong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97764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60320" y="39776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ChanDoan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99032" y="4630293"/>
            <a:ext cx="1993392" cy="401193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970532" y="4639437"/>
            <a:ext cx="9966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DanhMucBenh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788920"/>
            <a:ext cx="4206240" cy="22783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788920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7889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Nhóm 4: Kê đơn &amp; Cận lâm sàng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846320" y="33192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937760" y="3319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DonThuoc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49440" y="33192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040880" y="331927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ChiTietDonThuoc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97764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37760" y="39776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DanhMucThuoc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49440" y="3977640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040880" y="39776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ChiDinhCanLamSang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4645533"/>
            <a:ext cx="1993392" cy="421767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937760" y="457295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KetQuaCanLamSang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49440" y="4645533"/>
            <a:ext cx="1993392" cy="421767"/>
          </a:xfrm>
          <a:prstGeom prst="roundRect">
            <a:avLst>
              <a:gd name="adj" fmla="val 16129"/>
            </a:avLst>
          </a:prstGeom>
          <a:solidFill>
            <a:srgbClr val="F0F9FB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040880" y="456838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HoaDon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7E79BB-7E57-B884-1757-BD94AE30BB6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E4D004-7E87-78EC-5839-BB34360A9A9C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 — PHÂN TÍCH &amp; THIẾT KẾ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67D7AA-B217-4798-C37D-618DA4442EB5}"/>
              </a:ext>
            </a:extLst>
          </p:cNvPr>
          <p:cNvSpPr/>
          <p:nvPr/>
        </p:nvSpPr>
        <p:spPr>
          <a:xfrm>
            <a:off x="4678680" y="228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SƠ ĐỒ HOẠT ĐỘNG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E8DC4-624E-7C26-CCF0-9B64AACB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" y="685800"/>
            <a:ext cx="8206740" cy="2378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0C3CD4-1C3B-A406-A26A-11BA082D1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4646"/>
            <a:ext cx="9144000" cy="206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3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 — PHÂN TÍCH &amp; THIẾT KẾ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QUY TRÌNH NGHIỆP VỤ CHÍNH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QT1: Tiếp nhận bệnh nhân &amp; Tạo đợt khám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49961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[Lễ tân] Lễ tân nhập thông tin tìm kiếm bệnh nhân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5798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04825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[Hệ thống] Hệ thống kiểm tra: Bệnh nhân cũ? → Hiện thông tin / Bệnh nhân mới → Tạo hồ sơ mới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0662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[Lễ tân] Nhập chỉ số sinh tồn (mạch, nhiệt độ, huyết áp, cân nặng...)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74720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6499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[Hệ thống] Chọn chuyên khoa &amp; bác sĩ → Tạo đợt khám (trạng thái: Waiting)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1330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[Hệ thống] Bệnh nhân xuất hiện trong danh sách hàng chờ của Bác sĩ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4160520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822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QT2: Quy trình khám chữa bệnh tại phòng khám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00600" y="148132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138988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 chọn BN trong hàng chờ → Trạng thái: InProgress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02996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3792" y="193852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hồ sơ liên PK + cảnh báo dị ứng (nếu có quyền)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57860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248716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nhận triệu chứng &amp; khám lâm sàng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12724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93792" y="303580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định CLS (nếu cần) → Kỹ thuật viên trả kết quả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67588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93792" y="358444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Chẩn đoán mã bệnh ICD-10 + Kê đơn thuốc điện tử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224528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93792" y="413308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bệnh án (LOCKED) → Lễ tân thanh toán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QUẢN TRỊ VIÊN (ADMIN)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720840" y="7955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Bệnh nhân</a:t>
            </a:r>
            <a:endParaRPr lang="en-US" sz="12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F04EA619-AF4D-A05E-BCA0-175C3E518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11" y="2929015"/>
            <a:ext cx="4811395" cy="211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1906CC3-0663-580B-66D9-360D05A79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11" y="723843"/>
            <a:ext cx="4756150" cy="2098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 1">
            <a:extLst>
              <a:ext uri="{FF2B5EF4-FFF2-40B4-BE49-F238E27FC236}">
                <a16:creationId xmlns:a16="http://schemas.microsoft.com/office/drawing/2014/main" id="{B499F580-B8B4-9CB6-F38F-1D2A1BD094F0}"/>
              </a:ext>
            </a:extLst>
          </p:cNvPr>
          <p:cNvSpPr/>
          <p:nvPr/>
        </p:nvSpPr>
        <p:spPr>
          <a:xfrm>
            <a:off x="5372735" y="1460098"/>
            <a:ext cx="2719705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dashboard Admin</a:t>
            </a:r>
            <a:endParaRPr lang="en-US" sz="1500" dirty="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31EABD4E-4E38-A900-089F-1A03444F02CF}"/>
              </a:ext>
            </a:extLst>
          </p:cNvPr>
          <p:cNvSpPr/>
          <p:nvPr/>
        </p:nvSpPr>
        <p:spPr>
          <a:xfrm>
            <a:off x="5259706" y="3683402"/>
            <a:ext cx="4129405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Quản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lý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phòng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khám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E9AEA5-8C6A-7D32-E388-B00FE696075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820AEF-EC43-B6A5-7BBB-2A9E19E35E4E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D2E353-2F25-C322-E92A-031273FF299D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QUẢN TRỊ VIÊN (ADMIN)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2E2EE6-7123-6CE2-8402-63C776ECB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0" y="766763"/>
            <a:ext cx="4720518" cy="20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400826AA-1BA8-9E8A-FD83-B124D1E51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0" y="2930843"/>
            <a:ext cx="4720518" cy="20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7137E7D-4105-0B7A-0302-3A948D3B6EB1}"/>
              </a:ext>
            </a:extLst>
          </p:cNvPr>
          <p:cNvSpPr/>
          <p:nvPr/>
        </p:nvSpPr>
        <p:spPr>
          <a:xfrm>
            <a:off x="5014595" y="1599505"/>
            <a:ext cx="4129405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Quản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lý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bệnh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nhân</a:t>
            </a:r>
            <a:endParaRPr lang="en-US" sz="15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5DCBD11-9B2F-0D0C-EDFE-E57DC30D8B95}"/>
              </a:ext>
            </a:extLst>
          </p:cNvPr>
          <p:cNvSpPr/>
          <p:nvPr/>
        </p:nvSpPr>
        <p:spPr>
          <a:xfrm>
            <a:off x="5014595" y="3763584"/>
            <a:ext cx="4129405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Quản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lý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nhân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viên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00023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251BFB-0DA9-5C0F-1A08-F66883D51F3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1D7C48-FCB9-68D6-2BDB-14D9C226DEC3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BDDBA5-6D03-9CCC-E7E7-EC8C57592880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QUẢN TRỊ VIÊN (ADMIN)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844D19D-DA9D-EDF8-2C38-CC29CA0CE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55" y="797243"/>
            <a:ext cx="4739640" cy="210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EF92A436-7168-AEA8-ABCD-51D02CCA3377}"/>
              </a:ext>
            </a:extLst>
          </p:cNvPr>
          <p:cNvSpPr/>
          <p:nvPr/>
        </p:nvSpPr>
        <p:spPr>
          <a:xfrm>
            <a:off x="5089163" y="1688192"/>
            <a:ext cx="358870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Quản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lý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tài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khoản</a:t>
            </a:r>
            <a:endParaRPr lang="en-US" sz="1500" dirty="0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EFA81690-85CE-FCCD-3F08-5BB4ECECE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54" y="3014029"/>
            <a:ext cx="4739640" cy="210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6503E6BE-0A4F-1C7F-7068-BA0DC421BEBF}"/>
              </a:ext>
            </a:extLst>
          </p:cNvPr>
          <p:cNvSpPr/>
          <p:nvPr/>
        </p:nvSpPr>
        <p:spPr>
          <a:xfrm>
            <a:off x="5089163" y="3857883"/>
            <a:ext cx="388588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Thống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kê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– Báo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cáo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doanh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thu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04252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9074B77-CE93-7374-3782-3BF12AB22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742315"/>
            <a:ext cx="4706328" cy="2096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71ED8C2-4354-8A5D-80C7-734E6411A84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9D1F48-79FC-1153-6900-63524CD2F0EF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DB6F54-3842-2713-4D1F-7FA1D5F94B83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QUẢN TRỊ VIÊN (ADMIN)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8857D719-4006-E8AB-F46D-C74C19CAE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953703"/>
            <a:ext cx="4705667" cy="2096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F11DE67-E892-33A0-E54A-021175C60912}"/>
              </a:ext>
            </a:extLst>
          </p:cNvPr>
          <p:cNvSpPr/>
          <p:nvPr/>
        </p:nvSpPr>
        <p:spPr>
          <a:xfrm>
            <a:off x="5089163" y="1688192"/>
            <a:ext cx="3681457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Quản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lý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danh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mục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thuốc</a:t>
            </a:r>
            <a:endParaRPr lang="en-US" sz="15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2280527-281A-3351-60AB-8A43FF27B370}"/>
              </a:ext>
            </a:extLst>
          </p:cNvPr>
          <p:cNvSpPr/>
          <p:nvPr/>
        </p:nvSpPr>
        <p:spPr>
          <a:xfrm>
            <a:off x="5089163" y="3793043"/>
            <a:ext cx="358870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Quản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lý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danh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mục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bệnh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26390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B02A37-CEDA-BAEE-940E-1984290C2E2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10FA00-FD46-ABC9-8A6C-72C81E2A9F70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BD1E67-A277-EAF4-640F-0DF446817AC1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LỄ TÂN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CE4C7B-E532-4162-EA61-651B94816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858204"/>
            <a:ext cx="4700905" cy="207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14DAE737-9DAE-9BA0-F1C0-BE14707F6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3014663"/>
            <a:ext cx="4700904" cy="2083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6C3C82EF-367A-C43E-E2DA-652243EEFAC9}"/>
              </a:ext>
            </a:extLst>
          </p:cNvPr>
          <p:cNvSpPr/>
          <p:nvPr/>
        </p:nvSpPr>
        <p:spPr>
          <a:xfrm>
            <a:off x="5180603" y="1686618"/>
            <a:ext cx="358870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tiếp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nhận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bệnh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nhân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mới</a:t>
            </a:r>
            <a:endParaRPr lang="en-US" sz="15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1AFCE93-EE93-375A-CBAA-50E0A450462E}"/>
              </a:ext>
            </a:extLst>
          </p:cNvPr>
          <p:cNvSpPr/>
          <p:nvPr/>
        </p:nvSpPr>
        <p:spPr>
          <a:xfrm>
            <a:off x="5235257" y="3847612"/>
            <a:ext cx="358870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tiếp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nhận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bệnh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nhân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mới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(2)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49432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B252B6-1B46-4F19-28CB-2ADC709D303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74E68E-3587-399F-F56B-27BE67F9A642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4A9BC0-9CF0-71A9-6D87-A747B08041E1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LỄ TÂN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5E53145-C656-D12E-0377-5BD13E47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850584"/>
            <a:ext cx="4705350" cy="204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618C42E5-AF16-7CFE-08F5-FBFA5830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3033514"/>
            <a:ext cx="4705350" cy="20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308E2A9-20B1-B776-33FC-13396A75C36D}"/>
              </a:ext>
            </a:extLst>
          </p:cNvPr>
          <p:cNvSpPr/>
          <p:nvPr/>
        </p:nvSpPr>
        <p:spPr>
          <a:xfrm>
            <a:off x="5180602" y="1668678"/>
            <a:ext cx="3871957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chức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năng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Tra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cứu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bệnh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nhân</a:t>
            </a:r>
            <a:endParaRPr lang="en-US" sz="15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E36491C-FCCE-1015-5FA3-D87E9A6FDD63}"/>
              </a:ext>
            </a:extLst>
          </p:cNvPr>
          <p:cNvSpPr/>
          <p:nvPr/>
        </p:nvSpPr>
        <p:spPr>
          <a:xfrm>
            <a:off x="5180602" y="3865203"/>
            <a:ext cx="358870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Tạo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lượt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khám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38974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B1E05D1-6470-418C-49BF-6271AAF92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783590"/>
            <a:ext cx="4779010" cy="2060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617D290A-7CB7-2087-6C5B-4BAFA0595E9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7D6A78-6F5E-1386-8BD0-89347EBA6221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55958E-4699-C383-0966-790C42D741E5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LỄ TÂN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C18B4019-2EC3-B934-D31A-C6D6EA860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941571"/>
            <a:ext cx="4779010" cy="212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308F662B-3EB5-9CB1-45C6-123A3A18503D}"/>
              </a:ext>
            </a:extLst>
          </p:cNvPr>
          <p:cNvSpPr/>
          <p:nvPr/>
        </p:nvSpPr>
        <p:spPr>
          <a:xfrm>
            <a:off x="5294902" y="1604868"/>
            <a:ext cx="358870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Quản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lý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yêu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cầu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đặt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khám</a:t>
            </a:r>
            <a:endParaRPr lang="en-US" sz="15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24DD43E-EFD4-9267-119A-E31F6A682E22}"/>
              </a:ext>
            </a:extLst>
          </p:cNvPr>
          <p:cNvSpPr/>
          <p:nvPr/>
        </p:nvSpPr>
        <p:spPr>
          <a:xfrm>
            <a:off x="5294901" y="3794169"/>
            <a:ext cx="358870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Quản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lý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thanh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toán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7620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29E549-2700-7B53-950E-1115828548E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F500AE-6423-F7A8-431F-6ED9428D8F8E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27FB5E-18AD-4789-B79B-8C51C0ACC2A6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BÁC SĨ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DD45F10-1BB4-1A39-C890-5A0FCD32B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797243"/>
            <a:ext cx="4709160" cy="2082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>
            <a:extLst>
              <a:ext uri="{FF2B5EF4-FFF2-40B4-BE49-F238E27FC236}">
                <a16:creationId xmlns:a16="http://schemas.microsoft.com/office/drawing/2014/main" id="{1C86F73E-E084-2151-8074-A501E8F32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991383"/>
            <a:ext cx="4709160" cy="208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3BF9011E-C56F-0DC6-B595-F36AD61BA4F2}"/>
              </a:ext>
            </a:extLst>
          </p:cNvPr>
          <p:cNvSpPr/>
          <p:nvPr/>
        </p:nvSpPr>
        <p:spPr>
          <a:xfrm>
            <a:off x="5181917" y="1629775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Danh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sách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bệnh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nhân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chờ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khám</a:t>
            </a:r>
            <a:endParaRPr lang="en-US" sz="15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0624E9E-4171-2E9C-B6FF-4A1CBA537ECB}"/>
              </a:ext>
            </a:extLst>
          </p:cNvPr>
          <p:cNvSpPr/>
          <p:nvPr/>
        </p:nvSpPr>
        <p:spPr>
          <a:xfrm>
            <a:off x="5181917" y="3826161"/>
            <a:ext cx="358870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itchFamily="34" charset="0"/>
                <a:cs typeface="Arial" pitchFamily="34" charset="-120"/>
              </a:rPr>
              <a:t>Giao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diện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chức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năng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Tra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cứu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hồ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sơ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bệnh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án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liên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phòng</a:t>
            </a:r>
            <a:r>
              <a:rPr lang="en-US" sz="1500" b="1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500" b="1" dirty="0" err="1">
                <a:latin typeface="Arial" pitchFamily="34" charset="0"/>
                <a:cs typeface="Arial" pitchFamily="34" charset="-120"/>
              </a:rPr>
              <a:t>khám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56634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51DEF4-E7A1-D907-C54E-DCCEBEF3CB0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3240F8-F336-6A5A-37F6-F8A0C27DB4B2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A20D8E-1899-FC11-4F57-F8A3DDB11C93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BÁC SĨ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62EEC8F-42AD-4BC2-BA33-F921000F9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39" y="774383"/>
            <a:ext cx="4747261" cy="209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7336966A-F28A-3C57-94E0-4D02480CF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39" y="2966818"/>
            <a:ext cx="4747261" cy="206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A62E2EB6-6C4A-0A67-85C3-DF0390DB5974}"/>
              </a:ext>
            </a:extLst>
          </p:cNvPr>
          <p:cNvSpPr/>
          <p:nvPr/>
        </p:nvSpPr>
        <p:spPr>
          <a:xfrm>
            <a:off x="5181917" y="1629775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Quản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- Tab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gửi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1E8C9C1-30BD-BB54-D1AB-C77243CD7F00}"/>
              </a:ext>
            </a:extLst>
          </p:cNvPr>
          <p:cNvSpPr/>
          <p:nvPr/>
        </p:nvSpPr>
        <p:spPr>
          <a:xfrm>
            <a:off x="5181917" y="3790412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Quản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- Nhật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907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0607E0-4575-F794-20D2-918D5904413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E142FC-24C1-5B1A-5F67-7048A17BDE78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138C25-6C6C-912A-2E63-7A3EEAA94F4C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KỸ THUẬT VIÊN (CLS)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94E23CC-B62D-1F72-0A79-41C0941DB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772795"/>
            <a:ext cx="4953000" cy="2165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>
            <a:extLst>
              <a:ext uri="{FF2B5EF4-FFF2-40B4-BE49-F238E27FC236}">
                <a16:creationId xmlns:a16="http://schemas.microsoft.com/office/drawing/2014/main" id="{D752C2C8-FE10-44E7-5BCE-0EC13B7F6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938026"/>
            <a:ext cx="4953000" cy="2195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4FED4094-65EC-CEAC-CEEF-7D137C09F78B}"/>
              </a:ext>
            </a:extLst>
          </p:cNvPr>
          <p:cNvSpPr/>
          <p:nvPr/>
        </p:nvSpPr>
        <p:spPr>
          <a:xfrm>
            <a:off x="5372417" y="1646593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Quản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chờ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A57A893-5C28-B117-0BA1-5C505335B5AC}"/>
              </a:ext>
            </a:extLst>
          </p:cNvPr>
          <p:cNvSpPr/>
          <p:nvPr/>
        </p:nvSpPr>
        <p:spPr>
          <a:xfrm>
            <a:off x="5273040" y="3891896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Quản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Cận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lâm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584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C7749A-E945-BC9D-E2F5-3F1C0704F52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183702-816E-6573-6875-636F05586C9C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B60242-1E74-AA09-1D3F-9C342A52AA0A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SỬ DỤNG CỦA BỆNH NHÂN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C3D2DA7-9A07-CEF8-16EF-8246327E0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761550"/>
            <a:ext cx="4838700" cy="208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>
            <a:extLst>
              <a:ext uri="{FF2B5EF4-FFF2-40B4-BE49-F238E27FC236}">
                <a16:creationId xmlns:a16="http://schemas.microsoft.com/office/drawing/2014/main" id="{6B2E992B-3BE3-EEEE-9933-F78E0B0D3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923223"/>
            <a:ext cx="4838700" cy="213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428095C5-DDD0-BBEF-4A58-FD1B6C69DB48}"/>
              </a:ext>
            </a:extLst>
          </p:cNvPr>
          <p:cNvSpPr/>
          <p:nvPr/>
        </p:nvSpPr>
        <p:spPr>
          <a:xfrm>
            <a:off x="5311457" y="1646593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Thông tin y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8D64F5F-B7BE-FAD3-1E51-5D79FCF747BB}"/>
              </a:ext>
            </a:extLst>
          </p:cNvPr>
          <p:cNvSpPr/>
          <p:nvPr/>
        </p:nvSpPr>
        <p:spPr>
          <a:xfrm>
            <a:off x="5311457" y="3782040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khám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887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7C1250-D44A-F963-BADB-055A6AC839E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3E4E67-2A52-27C1-824E-6EA8995FB626}"/>
              </a:ext>
            </a:extLst>
          </p:cNvPr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 — KẾT QUẢ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74215B-117C-4461-3289-B3F02D5FC48A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– GIAO DIỆN SỬ DỤNG CỦA BỆNH NHÂN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F1E83184-E4CF-49F0-179A-EF1316D2F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802482"/>
            <a:ext cx="4648200" cy="20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>
            <a:extLst>
              <a:ext uri="{FF2B5EF4-FFF2-40B4-BE49-F238E27FC236}">
                <a16:creationId xmlns:a16="http://schemas.microsoft.com/office/drawing/2014/main" id="{1C467382-45DE-C9AB-4A88-2CD12D9A5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974901"/>
            <a:ext cx="4648200" cy="2070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BEC9D716-7E95-9611-8C93-E11A0D1A3388}"/>
              </a:ext>
            </a:extLst>
          </p:cNvPr>
          <p:cNvSpPr/>
          <p:nvPr/>
        </p:nvSpPr>
        <p:spPr>
          <a:xfrm>
            <a:off x="5151437" y="1622207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Tra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khám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Cận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lâm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67DA45C-C653-E6A3-2C6D-7637364EE59A}"/>
              </a:ext>
            </a:extLst>
          </p:cNvPr>
          <p:cNvSpPr/>
          <p:nvPr/>
        </p:nvSpPr>
        <p:spPr>
          <a:xfrm>
            <a:off x="5151437" y="3801295"/>
            <a:ext cx="3908743" cy="417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Tra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khám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Cận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lâm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544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ĐIỂM ĐẶC TRƯNG: TÍNH NĂNG LIÊN PHÒNG KHÁM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82980"/>
            <a:ext cx="2880360" cy="4023360"/>
          </a:xfrm>
          <a:prstGeom prst="roundRect">
            <a:avLst>
              <a:gd name="adj" fmla="val 3175"/>
            </a:avLst>
          </a:prstGeom>
          <a:solidFill>
            <a:srgbClr val="0F3740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607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05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Tra cứu Hồ sơ liên phòng khám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11480" y="176479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67335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Tìm theo Mã BN, SĐT, CCCD trong toàn hệ thống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11480" y="251460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423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Hiển thị thông tin hành chính + y tế nền tập trung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32644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17296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Lịch sử khám dạng Accordion – mở rộng từng đợt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11480" y="401421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92277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Xem kết quả CLS từ các phòng khám khác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91840" y="960120"/>
            <a:ext cx="2880360" cy="4023360"/>
          </a:xfrm>
          <a:prstGeom prst="roundRect">
            <a:avLst>
              <a:gd name="adj" fmla="val 3175"/>
            </a:avLst>
          </a:prstGeom>
          <a:solidFill>
            <a:srgbClr val="0F3740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91840" y="96012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60704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86200" y="1005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Quản lý quyền truy cập hồ sơ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429000" y="1764792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0" y="167335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Bác sĩ gửi yêu cầu → Bác sĩ cơ sở cũ xét duyệt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429000" y="2514600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0" y="2423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Ghi rõ lý do lâm sàng khi xin quyền (Audit Log)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3429000" y="3264408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57600" y="317296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Quyền có thời hạn hiệu lực cụ thể (ngày hết hạn)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3429000" y="4014216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57600" y="392277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Tab theo dõi: Yêu cầu đã gửi / Chờ duyệt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309360" y="960120"/>
            <a:ext cx="2880360" cy="4023360"/>
          </a:xfrm>
          <a:prstGeom prst="roundRect">
            <a:avLst>
              <a:gd name="adj" fmla="val 3175"/>
            </a:avLst>
          </a:prstGeom>
          <a:solidFill>
            <a:srgbClr val="0F3740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309360" y="960120"/>
            <a:ext cx="2880360" cy="640080"/>
          </a:xfrm>
          <a:prstGeom prst="roundRect">
            <a:avLst>
              <a:gd name="adj" fmla="val 857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60704"/>
            <a:ext cx="438912" cy="43891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03720" y="1005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Cơ chế bảo mật &amp; Phân quyền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6446520" y="1764792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75120" y="1673352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JWT Bearer Token trong mọi HTTP request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6446520" y="2514600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75120" y="2423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Middleware RBAC: 401 Unauthorized / 403 Forbidden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6446520" y="326440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675120" y="317296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Nhật ký kiểm toán (Audit Log) minh bạch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6446520" y="401421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675120" y="392277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Hồ sơ LOCKED sau khi bác sĩ ký – không sửa được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37B918A1-3AC3-F62F-CF69-1A17A505C209}"/>
              </a:ext>
            </a:extLst>
          </p:cNvPr>
          <p:cNvSpPr/>
          <p:nvPr/>
        </p:nvSpPr>
        <p:spPr>
          <a:xfrm>
            <a:off x="7294843" y="685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5 — KẾT LUẬN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5 — KẾT LUẬN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ĐẠT ĐƯỢC &amp; HẠN CHẾ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7782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8229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Kết quả đạt được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4048" y="148132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426464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Xây dựng hoàn chỉnh hệ thống web EMR 5 vai trò, hoạt động ổn định trên localhost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4048" y="213969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084832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Số hóa trọn vẹn quy trình lâm sàng: tiếp nhận → khám → CLS → </a:t>
            </a:r>
            <a:r>
              <a:rPr lang="en-US" sz="11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kê</a:t>
            </a: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đơn</a:t>
            </a: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thuốc</a:t>
            </a: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→ thanh toán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4048" y="279806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743200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Module liên thông hồ sơ + phân hệ quản lý quyền truy cập hoạt động chính xác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84048" y="3456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401568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Bệnh nhân tự quản lý hồ sơ, đặt lịch online, xem phim chụp CLS trực tuyến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84048" y="4114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4059936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Nhật ký kiểm toán (Audit Log) minh bạch hóa mọi truy cập dữ liệu y tế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63440" y="82296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822960"/>
            <a:ext cx="4160520" cy="548640"/>
          </a:xfrm>
          <a:prstGeom prst="roundRect">
            <a:avLst>
              <a:gd name="adj" fmla="val 11667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77824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30368" y="8229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Hạn chế hiện tại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773168" y="1481328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47488" y="1426464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Chưa kiểm thử tải (Stress test) trên môi trường internet thực tế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047488" y="2176272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Chưa chuẩn hóa theo tiêu chuẩn quốc tế HL7/FHIR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773168" y="2980944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47488" y="2926080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Chưa áp dụng mã hóa đầu cuối (E2E Encryption) cho dữ liệu nhạy cảm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773168" y="3730752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47488" y="3675888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Chưa tích hợp BHYT quốc gia và chuẩn DICOM/PACS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773168" y="2231136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5 — KẾT LUẬN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HƯỚNG PHÁT TRIỂN TƯƠNG LAI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088136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005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Nâng cấp kiến trúc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17320" y="1554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Tích hợp chuẩn HL7/FHIR để kết nối HIS, LIS, PACS quốc tế. Nâng cấp lên Microservices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96012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088136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1005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Bảo mật nâng cao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897880" y="1554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Ứng dụng Blockchain cho Audit Log không thể giả mạo. End-to-End Encryption cho EMR.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74320" y="301752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15468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282696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Ứng dụng di động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417320" y="3749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App iOS &amp; Android cho bệnh nhân: thông báo lịch khám, nhắc uống thuốc, kết quả CLS real-time.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15468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282696"/>
            <a:ext cx="658368" cy="6583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9788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Tích hợp AI (CDSS)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897880" y="37490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Machine Learning gợi ý mã ICD-10 từ triệu chứng. Cảnh báo tương tác thuốc tự động.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5486400" cy="5486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-91440"/>
            <a:ext cx="4114800" cy="4114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 Bệnh án Liên Phòng Khám Tư Nhân  –  DA22TTC  –  2026</a:t>
            </a:r>
            <a:endParaRPr lang="en-US" sz="9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579FE63A-9548-B600-A3B8-7ECE75AABD7F}"/>
              </a:ext>
            </a:extLst>
          </p:cNvPr>
          <p:cNvSpPr/>
          <p:nvPr/>
        </p:nvSpPr>
        <p:spPr>
          <a:xfrm>
            <a:off x="365760" y="320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F545B4C6-3E4A-278B-5C19-B468BA38E945}"/>
              </a:ext>
            </a:extLst>
          </p:cNvPr>
          <p:cNvSpPr/>
          <p:nvPr/>
        </p:nvSpPr>
        <p:spPr>
          <a:xfrm>
            <a:off x="384048" y="100584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54DA3408-C91F-985B-4512-635934DBA562}"/>
              </a:ext>
            </a:extLst>
          </p:cNvPr>
          <p:cNvSpPr/>
          <p:nvPr/>
        </p:nvSpPr>
        <p:spPr>
          <a:xfrm>
            <a:off x="658368" y="9326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xây dựng hoàn chỉnh hệ thống EMR web với kiến trúc 3 tầng hiện đại</a:t>
            </a:r>
            <a:endParaRPr lang="en-US" sz="120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8AADD95B-A72F-94C5-B9AE-C98F92B7E8F4}"/>
              </a:ext>
            </a:extLst>
          </p:cNvPr>
          <p:cNvSpPr/>
          <p:nvPr/>
        </p:nvSpPr>
        <p:spPr>
          <a:xfrm>
            <a:off x="384048" y="15087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B6D82344-E506-9D12-958C-F3D3B90C1FED}"/>
              </a:ext>
            </a:extLst>
          </p:cNvPr>
          <p:cNvSpPr/>
          <p:nvPr/>
        </p:nvSpPr>
        <p:spPr>
          <a:xfrm>
            <a:off x="658368" y="1435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quyết được bài toán liên thông hồ sơ bệnh án giữa các phòng khám</a:t>
            </a:r>
            <a:endParaRPr lang="en-US" sz="1200" dirty="0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39AC32BD-9014-4569-AA9F-AC4CCDEBD179}"/>
              </a:ext>
            </a:extLst>
          </p:cNvPr>
          <p:cNvSpPr/>
          <p:nvPr/>
        </p:nvSpPr>
        <p:spPr>
          <a:xfrm>
            <a:off x="384048" y="20116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8F595DEE-08D6-732A-6D25-2C78D14D16E0}"/>
              </a:ext>
            </a:extLst>
          </p:cNvPr>
          <p:cNvSpPr/>
          <p:nvPr/>
        </p:nvSpPr>
        <p:spPr>
          <a:xfrm>
            <a:off x="658368" y="1938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Đảm bảo bảo mật tốt với JWT + RBAC + Audit Log minh bạch</a:t>
            </a:r>
            <a:endParaRPr lang="en-US" sz="1200" dirty="0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E781E7E8-78EA-B966-4FD1-80D52ECF35A7}"/>
              </a:ext>
            </a:extLst>
          </p:cNvPr>
          <p:cNvSpPr/>
          <p:nvPr/>
        </p:nvSpPr>
        <p:spPr>
          <a:xfrm>
            <a:off x="384048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2A8A8630-9BC8-FD60-D496-B071A2166D51}"/>
              </a:ext>
            </a:extLst>
          </p:cNvPr>
          <p:cNvSpPr/>
          <p:nvPr/>
        </p:nvSpPr>
        <p:spPr>
          <a:xfrm>
            <a:off x="658368" y="24414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SPA mượt mà, phân quyền 5 vai trò rõ ràng</a:t>
            </a:r>
            <a:endParaRPr lang="en-US" sz="12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F3AC5092-A535-CED6-B0FF-84310879C224}"/>
              </a:ext>
            </a:extLst>
          </p:cNvPr>
          <p:cNvSpPr/>
          <p:nvPr/>
        </p:nvSpPr>
        <p:spPr>
          <a:xfrm>
            <a:off x="365760" y="3200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XIN TRÂN TRỌNG CẢM ƠN!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1EA4711C-BB32-CCF7-54F9-833416743E43}"/>
              </a:ext>
            </a:extLst>
          </p:cNvPr>
          <p:cNvSpPr/>
          <p:nvPr/>
        </p:nvSpPr>
        <p:spPr>
          <a:xfrm>
            <a:off x="365760" y="3931920"/>
            <a:ext cx="22860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38501674-DC99-4A15-722C-F9C58390E618}"/>
              </a:ext>
            </a:extLst>
          </p:cNvPr>
          <p:cNvSpPr/>
          <p:nvPr/>
        </p:nvSpPr>
        <p:spPr>
          <a:xfrm>
            <a:off x="3657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viên: NGUYỄN THÀNH VINH  |  MSSV: 110122206</a:t>
            </a:r>
            <a:endParaRPr lang="en-US" sz="11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E88DC866-0BC8-23EB-2950-068F019935F5}"/>
              </a:ext>
            </a:extLst>
          </p:cNvPr>
          <p:cNvSpPr/>
          <p:nvPr/>
        </p:nvSpPr>
        <p:spPr>
          <a:xfrm>
            <a:off x="365760" y="4462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ThS. Lê Phong Dũ  |  ĐH Trà Vinh </a:t>
            </a:r>
            <a:endParaRPr lang="en-US" sz="1000" dirty="0"/>
          </a:p>
        </p:txBody>
      </p:sp>
      <p:pic>
        <p:nvPicPr>
          <p:cNvPr id="50" name="Image 0" descr="preencoded.png">
            <a:extLst>
              <a:ext uri="{FF2B5EF4-FFF2-40B4-BE49-F238E27FC236}">
                <a16:creationId xmlns:a16="http://schemas.microsoft.com/office/drawing/2014/main" id="{7768FE76-25C6-4F97-DAD4-E53A5CE56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731520"/>
            <a:ext cx="1280160" cy="1280160"/>
          </a:xfrm>
          <a:prstGeom prst="rect">
            <a:avLst/>
          </a:prstGeom>
        </p:spPr>
      </p:pic>
      <p:sp>
        <p:nvSpPr>
          <p:cNvPr id="51" name="Text 16">
            <a:extLst>
              <a:ext uri="{FF2B5EF4-FFF2-40B4-BE49-F238E27FC236}">
                <a16:creationId xmlns:a16="http://schemas.microsoft.com/office/drawing/2014/main" id="{D64B100F-E20E-8679-16F4-60318737CDDC}"/>
              </a:ext>
            </a:extLst>
          </p:cNvPr>
          <p:cNvSpPr/>
          <p:nvPr/>
        </p:nvSpPr>
        <p:spPr>
          <a:xfrm>
            <a:off x="667512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2180</Words>
  <Application>Microsoft Office PowerPoint</Application>
  <PresentationFormat>On-screen Show (16:9)</PresentationFormat>
  <Paragraphs>294</Paragraphs>
  <Slides>28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Bệnh án Liên Phòng Khám Tư Nhân</dc:title>
  <dc:subject>PptxGenJS Presentation</dc:subject>
  <dc:creator>Nguyễn Thành Vinh</dc:creator>
  <cp:lastModifiedBy>Nguyen Vinh</cp:lastModifiedBy>
  <cp:revision>6</cp:revision>
  <dcterms:created xsi:type="dcterms:W3CDTF">2026-06-28T02:52:41Z</dcterms:created>
  <dcterms:modified xsi:type="dcterms:W3CDTF">2026-06-29T04:32:56Z</dcterms:modified>
</cp:coreProperties>
</file>